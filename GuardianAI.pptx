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rimson Pro SemiBold" panose="020B0604020202020204" charset="0"/>
      <p:regular r:id="rId13"/>
    </p:embeddedFont>
    <p:embeddedFont>
      <p:font typeface="Heebo" pitchFamily="2" charset="-79"/>
      <p:regular r:id="rId14"/>
    </p:embeddedFont>
    <p:embeddedFont>
      <p:font typeface="Heebo Bold" panose="020B0604020202020204" charset="-79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904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514847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GuardianAI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014538"/>
            <a:ext cx="4722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Autonomous AI Agent Safety &amp; Permission Control System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925119" y="2448595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Poovalingam M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AMD AI DevMaster Hackathon 2026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925119" y="3061692"/>
            <a:ext cx="4722763" cy="566961"/>
          </a:xfrm>
          <a:prstGeom prst="roundRect">
            <a:avLst>
              <a:gd name="adj" fmla="val 3751"/>
            </a:avLst>
          </a:prstGeom>
          <a:solidFill>
            <a:srgbClr val="CCD7FF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6877" y="3262461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85816" y="3238872"/>
            <a:ext cx="4577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Tagline: "Securing Autonomous AI Before It Acts."</a:t>
            </a:r>
            <a:endParaRPr lang="en-US" sz="11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1DC6C1-6EDE-19CA-7ACA-85783B7D6BB4}"/>
              </a:ext>
            </a:extLst>
          </p:cNvPr>
          <p:cNvSpPr/>
          <p:nvPr/>
        </p:nvSpPr>
        <p:spPr>
          <a:xfrm>
            <a:off x="7673055" y="4812909"/>
            <a:ext cx="1470945" cy="330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394395"/>
            <a:ext cx="4722763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The Challenge: Autonomous Agents in the Wild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96119" y="1315715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Autonomous AI agents are being adopted across enterprise automation, software delivery, cloud ops, healthcare, banking, and customer support. They can execute powerful operations but often lack built-in security controls.</a:t>
            </a:r>
            <a:endParaRPr lang="en-US" sz="11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382441"/>
            <a:ext cx="4722763" cy="236659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56927" y="2949401"/>
            <a:ext cx="44011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Primary Risks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656927" y="3255913"/>
            <a:ext cx="4401145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Unauthorized access &amp; excessive permissions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Prompt injection and adversarial inputs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Data leakage and privacy violations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Malicious or unintended API execution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Poor auditability and accountability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640333"/>
            <a:ext cx="4722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GuardianAI — Core Concept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96119" y="1207294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GuardianAI inserts a policy-driven security layer between autonomous agents and execution targets. Every request is analyzed, risk-scored, permission-checked, and either approved or blocked — with an immutable audit trail.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2274019"/>
            <a:ext cx="2290465" cy="1043657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6" name="Text 3"/>
          <p:cNvSpPr/>
          <p:nvPr/>
        </p:nvSpPr>
        <p:spPr>
          <a:xfrm>
            <a:off x="637877" y="2415778"/>
            <a:ext cx="20069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Analyze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37877" y="2722290"/>
            <a:ext cx="20069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Deep request inspection and threat detection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928342" y="2274019"/>
            <a:ext cx="2290539" cy="1043657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9" name="Text 6"/>
          <p:cNvSpPr/>
          <p:nvPr/>
        </p:nvSpPr>
        <p:spPr>
          <a:xfrm>
            <a:off x="3070101" y="2415778"/>
            <a:ext cx="2007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Authorize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070101" y="2722290"/>
            <a:ext cx="20070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Permission checks, RBAC, and human approvals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96119" y="3459435"/>
            <a:ext cx="2290465" cy="1043657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12" name="Text 9"/>
          <p:cNvSpPr/>
          <p:nvPr/>
        </p:nvSpPr>
        <p:spPr>
          <a:xfrm>
            <a:off x="637877" y="3601194"/>
            <a:ext cx="20069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Enforce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37877" y="3907706"/>
            <a:ext cx="20069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Policy application and safe tool invocation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928342" y="3459435"/>
            <a:ext cx="2290539" cy="1043657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15" name="Text 12"/>
          <p:cNvSpPr/>
          <p:nvPr/>
        </p:nvSpPr>
        <p:spPr>
          <a:xfrm>
            <a:off x="3070101" y="3601194"/>
            <a:ext cx="2007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Audit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3070101" y="3907706"/>
            <a:ext cx="20070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Immutable logging and explainable decisions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5929"/>
            <a:ext cx="8151763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System Architecture</a:t>
            </a:r>
            <a:endParaRPr lang="en-US" sz="1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75" y="664071"/>
            <a:ext cx="8020050" cy="39425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86392" y="1033046"/>
            <a:ext cx="1834120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Policy Engine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486392" y="1327524"/>
            <a:ext cx="3708999" cy="138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Authorize or block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486392" y="1954181"/>
            <a:ext cx="1834120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Security Check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486392" y="2248660"/>
            <a:ext cx="3708999" cy="138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Inspect for threats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486392" y="2875318"/>
            <a:ext cx="1834120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Planner Agent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486392" y="3169795"/>
            <a:ext cx="3708999" cy="138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Generate actionable plan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494543" y="3796453"/>
            <a:ext cx="1834120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User Request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494543" y="4090931"/>
            <a:ext cx="3708999" cy="138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Submit intent to system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96119" y="4648944"/>
            <a:ext cx="8608963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architecture enforces a strict request pipeline: Planner produces intent, Security inspects for threats, Policy Engine authorizes actions, Execution runs only approved tasks, Audit Logger records decisions, and Memory stores context for continuity.</a:t>
            </a:r>
            <a:endParaRPr lang="en-US" sz="5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E43560-EE38-9A2E-9FD5-9CD37A036354}"/>
              </a:ext>
            </a:extLst>
          </p:cNvPr>
          <p:cNvSpPr/>
          <p:nvPr/>
        </p:nvSpPr>
        <p:spPr>
          <a:xfrm>
            <a:off x="7673055" y="4812909"/>
            <a:ext cx="1470945" cy="330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09365"/>
            <a:ext cx="3066157" cy="17246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91186" y="580504"/>
            <a:ext cx="4761384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Multi-Agent Workflow (Operational Flow)</a:t>
            </a:r>
            <a:endParaRPr lang="en-US" sz="2050" dirty="0"/>
          </a:p>
        </p:txBody>
      </p:sp>
      <p:sp>
        <p:nvSpPr>
          <p:cNvPr id="4" name="Text 1"/>
          <p:cNvSpPr/>
          <p:nvPr/>
        </p:nvSpPr>
        <p:spPr>
          <a:xfrm>
            <a:off x="3891186" y="1052885"/>
            <a:ext cx="26580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3891186" y="1264444"/>
            <a:ext cx="2318370" cy="14288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6" name="Text 3"/>
          <p:cNvSpPr/>
          <p:nvPr/>
        </p:nvSpPr>
        <p:spPr>
          <a:xfrm>
            <a:off x="3891186" y="1359471"/>
            <a:ext cx="2318370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1. User Request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891186" y="1691729"/>
            <a:ext cx="2318370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Intent captured and normalized.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334125" y="1052885"/>
            <a:ext cx="26580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334125" y="1264444"/>
            <a:ext cx="2318445" cy="14288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0" name="Text 7"/>
          <p:cNvSpPr/>
          <p:nvPr/>
        </p:nvSpPr>
        <p:spPr>
          <a:xfrm>
            <a:off x="6334125" y="1359471"/>
            <a:ext cx="2318445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2. Planner Agent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334125" y="1691729"/>
            <a:ext cx="231844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Generates plan, sequences tools, and identifies required permissions.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891186" y="2327895"/>
            <a:ext cx="26580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891186" y="2539454"/>
            <a:ext cx="2318370" cy="14288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4" name="Text 11"/>
          <p:cNvSpPr/>
          <p:nvPr/>
        </p:nvSpPr>
        <p:spPr>
          <a:xfrm>
            <a:off x="3891186" y="2634481"/>
            <a:ext cx="2318370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3. Security Agent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891186" y="2966740"/>
            <a:ext cx="2318370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Performs threat detection (prompt injection, malicious patterns).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334125" y="2327895"/>
            <a:ext cx="26580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334125" y="2539454"/>
            <a:ext cx="2318445" cy="14288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8" name="Text 15"/>
          <p:cNvSpPr/>
          <p:nvPr/>
        </p:nvSpPr>
        <p:spPr>
          <a:xfrm>
            <a:off x="6334125" y="2634481"/>
            <a:ext cx="2318445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4. Policy Engine &amp; Memory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334125" y="2966740"/>
            <a:ext cx="231844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Validates RBAC, fetches context, enforces enterprise policies.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891186" y="3602906"/>
            <a:ext cx="26580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05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891186" y="3814465"/>
            <a:ext cx="4761384" cy="14288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22" name="Text 19"/>
          <p:cNvSpPr/>
          <p:nvPr/>
        </p:nvSpPr>
        <p:spPr>
          <a:xfrm>
            <a:off x="3891186" y="3909492"/>
            <a:ext cx="476138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5. Execution &amp; Audit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3891186" y="4241750"/>
            <a:ext cx="4761384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Execute if approved; otherwise block and log rationale for review.</a:t>
            </a:r>
            <a:endParaRPr lang="en-US" sz="10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0AB4AAA-E9DE-5662-4A34-070841CE1EF0}"/>
              </a:ext>
            </a:extLst>
          </p:cNvPr>
          <p:cNvSpPr/>
          <p:nvPr/>
        </p:nvSpPr>
        <p:spPr>
          <a:xfrm>
            <a:off x="7673055" y="4812909"/>
            <a:ext cx="1470945" cy="330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05966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Key Security Features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343844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875383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Permission-Based Execution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181895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RBAC + scoped tokens ensure least privilege for actions and tools.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1343844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1875383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Risk Assessment Engine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2181895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Contextual risk scoring (intent, data sensitivity, target systems).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48747" y="1343844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1875383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Prompt Injection Detection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2181895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Language model guards detect manipulated prompts and tampering attempts.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145854"/>
            <a:ext cx="354360" cy="3543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6119" y="3677394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Explainable Decisions &amp; Audit Logs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96119" y="3983906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Rationales stored with immutable logs for compliance and forensics.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72433" y="3145854"/>
            <a:ext cx="354360" cy="35436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272433" y="3677394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Human-in-the-Loop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272433" y="3983906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Escalation and explicit approvals for high-risk operations.</a:t>
            </a:r>
            <a:endParaRPr lang="en-US" sz="11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531D0FA-6BBE-22D5-D6F4-861DEA52700C}"/>
              </a:ext>
            </a:extLst>
          </p:cNvPr>
          <p:cNvSpPr/>
          <p:nvPr/>
        </p:nvSpPr>
        <p:spPr>
          <a:xfrm>
            <a:off x="7673055" y="4812909"/>
            <a:ext cx="1470945" cy="330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21060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1742480"/>
            <a:ext cx="3478039" cy="2225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Frontend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: React.js, TypeScript, Tailwind CSS</a:t>
            </a: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Backend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: Spring Boot, Java</a:t>
            </a: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AI Layer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: LangChain orchestration, local LLMs, Hugging Face models</a:t>
            </a: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Database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: PostgreSQL</a:t>
            </a: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Auth &amp; Security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: JWT, RBAC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Infra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: Docker, containerized services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4796" y="1347490"/>
            <a:ext cx="4327773" cy="243430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324796" y="3941266"/>
            <a:ext cx="432777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GPU Acceleration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: AMD Radeon GPUs with ROCm for optimized local inference — lower latency and on-prem privacy.</a:t>
            </a:r>
            <a:endParaRPr lang="en-US" sz="11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974D2D-01D6-008B-FBD5-630E6B1B0180}"/>
              </a:ext>
            </a:extLst>
          </p:cNvPr>
          <p:cNvSpPr/>
          <p:nvPr/>
        </p:nvSpPr>
        <p:spPr>
          <a:xfrm>
            <a:off x="7673055" y="4812909"/>
            <a:ext cx="1470945" cy="330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96714"/>
            <a:ext cx="4371603" cy="254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AMD GPU &amp; ROCm Optimization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96119" y="1424657"/>
            <a:ext cx="4371603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GuardianAI is engineered to run local inference on AMD Radeon GPUs using ROCm. This design reduces cloud dependencies, preserves sensitive data on-prem, and delivers deterministic, low-latency responses for security-critical workflows.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1027" y="473869"/>
            <a:ext cx="3531543" cy="198648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64856" y="2625105"/>
            <a:ext cx="14288" cy="2126828"/>
          </a:xfrm>
          <a:prstGeom prst="roundRect">
            <a:avLst>
              <a:gd name="adj" fmla="val 49998"/>
            </a:avLst>
          </a:prstGeom>
          <a:solidFill>
            <a:srgbClr val="D8D4D4"/>
          </a:solidFill>
          <a:ln/>
        </p:spPr>
      </p:sp>
      <p:sp>
        <p:nvSpPr>
          <p:cNvPr id="6" name="Shape 3"/>
          <p:cNvSpPr/>
          <p:nvPr/>
        </p:nvSpPr>
        <p:spPr>
          <a:xfrm>
            <a:off x="481831" y="2625105"/>
            <a:ext cx="4075881" cy="611312"/>
          </a:xfrm>
          <a:custGeom>
            <a:avLst/>
            <a:gdLst/>
            <a:ahLst/>
            <a:cxnLst/>
            <a:rect l="l" t="t" r="r" b="b"/>
            <a:pathLst>
              <a:path w="4075881" h="611312">
                <a:moveTo>
                  <a:pt x="12737" y="0"/>
                </a:moveTo>
                <a:lnTo>
                  <a:pt x="4075881" y="0"/>
                </a:lnTo>
                <a:lnTo>
                  <a:pt x="4075881" y="611312"/>
                </a:lnTo>
                <a:lnTo>
                  <a:pt x="12737" y="611312"/>
                </a:lnTo>
                <a:arcTo wR="12737" hR="12737" stAng="5400000" swAng="5400000"/>
                <a:lnTo>
                  <a:pt x="0" y="12737"/>
                </a:lnTo>
                <a:arcTo wR="12737" hR="12737" stAng="10800000" swAng="5400000"/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7" name="Text 4"/>
          <p:cNvSpPr/>
          <p:nvPr/>
        </p:nvSpPr>
        <p:spPr>
          <a:xfrm>
            <a:off x="583704" y="2726978"/>
            <a:ext cx="3872136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Performance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83704" y="2930128"/>
            <a:ext cx="3872136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Faster batch and streaming inference for agent workloads.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86288" y="3382863"/>
            <a:ext cx="4075881" cy="611312"/>
          </a:xfrm>
          <a:custGeom>
            <a:avLst/>
            <a:gdLst/>
            <a:ahLst/>
            <a:cxnLst/>
            <a:rect l="l" t="t" r="r" b="b"/>
            <a:pathLst>
              <a:path w="4075881" h="611312">
                <a:moveTo>
                  <a:pt x="0" y="0"/>
                </a:moveTo>
                <a:lnTo>
                  <a:pt x="4063145" y="0"/>
                </a:lnTo>
                <a:arcTo wR="12737" hR="12737" stAng="16200000" swAng="5400000"/>
                <a:lnTo>
                  <a:pt x="4075881" y="598575"/>
                </a:lnTo>
                <a:arcTo wR="12737" hR="12737" stAng="0" swAng="5400000"/>
                <a:lnTo>
                  <a:pt x="0" y="611312"/>
                </a:lnTo>
                <a:lnTo>
                  <a:pt x="0" y="0"/>
                </a:lnTo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10" name="Text 7"/>
          <p:cNvSpPr/>
          <p:nvPr/>
        </p:nvSpPr>
        <p:spPr>
          <a:xfrm>
            <a:off x="4688160" y="3484736"/>
            <a:ext cx="3872136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Privacy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688160" y="3687887"/>
            <a:ext cx="3872136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Data remains on-premises; minimizes exfiltration risk.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81831" y="4140622"/>
            <a:ext cx="4075881" cy="611312"/>
          </a:xfrm>
          <a:custGeom>
            <a:avLst/>
            <a:gdLst/>
            <a:ahLst/>
            <a:cxnLst/>
            <a:rect l="l" t="t" r="r" b="b"/>
            <a:pathLst>
              <a:path w="4075881" h="611312">
                <a:moveTo>
                  <a:pt x="12737" y="0"/>
                </a:moveTo>
                <a:lnTo>
                  <a:pt x="4075881" y="0"/>
                </a:lnTo>
                <a:lnTo>
                  <a:pt x="4075881" y="611312"/>
                </a:lnTo>
                <a:lnTo>
                  <a:pt x="12737" y="611312"/>
                </a:lnTo>
                <a:arcTo wR="12737" hR="12737" stAng="5400000" swAng="5400000"/>
                <a:lnTo>
                  <a:pt x="0" y="12737"/>
                </a:lnTo>
                <a:arcTo wR="12737" hR="12737" stAng="10800000" swAng="5400000"/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13" name="Text 10"/>
          <p:cNvSpPr/>
          <p:nvPr/>
        </p:nvSpPr>
        <p:spPr>
          <a:xfrm>
            <a:off x="583704" y="4242495"/>
            <a:ext cx="3872136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Cost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83704" y="4445645"/>
            <a:ext cx="3872136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Lower TCO vs. cloud inference at scale.</a:t>
            </a:r>
            <a:endParaRPr lang="en-US" sz="8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FC5ACB-2477-0990-5775-47A3FB9942B6}"/>
              </a:ext>
            </a:extLst>
          </p:cNvPr>
          <p:cNvSpPr/>
          <p:nvPr/>
        </p:nvSpPr>
        <p:spPr>
          <a:xfrm>
            <a:off x="7673055" y="4812909"/>
            <a:ext cx="1470945" cy="330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19076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Live Demonstration Scenarios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056954"/>
            <a:ext cx="1156246" cy="7145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9544" y="2056954"/>
            <a:ext cx="26538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Scenario 1 — Report Generation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829544" y="2363465"/>
            <a:ext cx="2653829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Request: "Generate monthly sales report." Planner creates steps → Security Agent validates data accesses → Policy Engine grants scoped execution → Execution returns report. All steps logged with rationale.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0553" y="2056954"/>
            <a:ext cx="1156320" cy="71459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94053" y="2056954"/>
            <a:ext cx="26538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Scenario 2 — Dangerous Operation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994053" y="2363465"/>
            <a:ext cx="2653829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Request: "Delete production database." Planner recognizes destructive intent → Security flags high risk → Policy Engine denies execution → Human approval required and action is logged with full explanation.</a:t>
            </a:r>
            <a:endParaRPr lang="en-US" sz="11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AB92C7-1EF9-1BD3-C2EC-937BF05D9BFE}"/>
              </a:ext>
            </a:extLst>
          </p:cNvPr>
          <p:cNvSpPr/>
          <p:nvPr/>
        </p:nvSpPr>
        <p:spPr>
          <a:xfrm>
            <a:off x="7673055" y="4812909"/>
            <a:ext cx="1470945" cy="330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29816"/>
            <a:ext cx="4722763" cy="293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Impact, Roadmap &amp; Ask</a:t>
            </a:r>
            <a:endParaRPr lang="en-US" sz="18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869007"/>
            <a:ext cx="4722763" cy="8483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086151" y="1183109"/>
            <a:ext cx="176064" cy="2201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4506144" y="1000646"/>
            <a:ext cx="401009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Real-World Impact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4506144" y="1242343"/>
            <a:ext cx="4010099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Enterprise AI assistants, finance, healthcare, cloud ops, SOCs — reduce incidents and increase trust through enforceable AI controls.</a:t>
            </a:r>
            <a:endParaRPr lang="en-US" sz="9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1814513"/>
            <a:ext cx="4722763" cy="10880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086151" y="2248421"/>
            <a:ext cx="176064" cy="2201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4506144" y="1946151"/>
            <a:ext cx="401009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Planned Enhancements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4506144" y="2187848"/>
            <a:ext cx="4010099" cy="583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Adaptive policy learning and AI-driven threat intelligence</a:t>
            </a:r>
            <a:endParaRPr lang="en-US" sz="900" dirty="0"/>
          </a:p>
          <a:p>
            <a:pPr marL="182880" indent="-182880" algn="l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Zero Trust AI controls and federated policy management</a:t>
            </a:r>
            <a:endParaRPr lang="en-US" sz="900" dirty="0"/>
          </a:p>
          <a:p>
            <a:pPr marL="182880" indent="-182880" algn="l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Enterprise IAM / SSO integration and multi-cloud support</a:t>
            </a:r>
            <a:endParaRPr lang="en-US" sz="9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2999705"/>
            <a:ext cx="4722763" cy="848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086151" y="3313807"/>
            <a:ext cx="176064" cy="2201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506144" y="3131344"/>
            <a:ext cx="401009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Request to Judges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4506144" y="3373041"/>
            <a:ext cx="4010099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Feedback on integration paths with enterprise IAM and ROCm performance validation. Access to AMD edge hardware for benchmarking is appreciated.</a:t>
            </a:r>
            <a:endParaRPr lang="en-US" sz="900" dirty="0"/>
          </a:p>
        </p:txBody>
      </p:sp>
      <p:sp>
        <p:nvSpPr>
          <p:cNvPr id="16" name="Shape 10"/>
          <p:cNvSpPr/>
          <p:nvPr/>
        </p:nvSpPr>
        <p:spPr>
          <a:xfrm>
            <a:off x="3925119" y="3986659"/>
            <a:ext cx="4722763" cy="14288"/>
          </a:xfrm>
          <a:prstGeom prst="roundRect">
            <a:avLst>
              <a:gd name="adj" fmla="val 49998"/>
            </a:avLst>
          </a:prstGeom>
          <a:solidFill>
            <a:srgbClr val="4C4C4D">
              <a:alpha val="50000"/>
            </a:srgbClr>
          </a:solidFill>
          <a:ln/>
        </p:spPr>
      </p:sp>
      <p:sp>
        <p:nvSpPr>
          <p:cNvPr id="17" name="Text 11"/>
          <p:cNvSpPr/>
          <p:nvPr/>
        </p:nvSpPr>
        <p:spPr>
          <a:xfrm>
            <a:off x="3925119" y="4176043"/>
            <a:ext cx="4722763" cy="220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GuardianAI — Secure AI Before It Acts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3696519" y="4541937"/>
            <a:ext cx="5179963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2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Thank you. Questions?</a:t>
            </a:r>
            <a:endParaRPr lang="en-US" sz="9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9911086-92EE-FAF0-11EF-88D6E23D14B6}"/>
              </a:ext>
            </a:extLst>
          </p:cNvPr>
          <p:cNvSpPr/>
          <p:nvPr/>
        </p:nvSpPr>
        <p:spPr>
          <a:xfrm>
            <a:off x="7673055" y="4812909"/>
            <a:ext cx="1470945" cy="33059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696</Words>
  <Application>Microsoft Office PowerPoint</Application>
  <PresentationFormat>On-screen Show (16:9)</PresentationFormat>
  <Paragraphs>105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Heebo</vt:lpstr>
      <vt:lpstr>Crimson Pro SemiBold</vt:lpstr>
      <vt:lpstr>Crimson Pro Light</vt:lpstr>
      <vt:lpstr>Heebo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Poovalingam M</cp:lastModifiedBy>
  <cp:revision>2</cp:revision>
  <dcterms:created xsi:type="dcterms:W3CDTF">2026-08-06T14:16:06Z</dcterms:created>
  <dcterms:modified xsi:type="dcterms:W3CDTF">2026-08-06T14:18:38Z</dcterms:modified>
</cp:coreProperties>
</file>